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
  </p:notesMasterIdLst>
  <p:sldIdLst>
    <p:sldId id="263" r:id="rId3"/>
    <p:sldId id="258" r:id="rId4"/>
    <p:sldId id="259" r:id="rId6"/>
    <p:sldId id="260" r:id="rId7"/>
    <p:sldId id="261" r:id="rId8"/>
    <p:sldId id="262" r:id="rId9"/>
  </p:sldIdLst>
  <p:sldSz cx="9144000" cy="5143500" type="screen16x9"/>
  <p:notesSz cx="6858000" cy="9144000"/>
  <p:embeddedFontLst>
    <p:embeddedFont>
      <p:font typeface="Proxima Nova" panose="02000506030000020004"/>
      <p:regular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howGuides="1">
      <p:cViewPr varScale="1">
        <p:scale>
          <a:sx n="111" d="100"/>
          <a:sy n="111" d="100"/>
        </p:scale>
        <p:origin x="63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font" Target="fonts/font1.fntdata"/><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Our idea—**AI-Powered Crop Yield Prediction and Optimization**—goes beyond traditional methods by integrating diverse datasets into a single intelligent platform. By combining soil properties, historical weather, and government agricultural data, our system generates yield predictions with remarkable accuracy.</a:t>
            </a:r>
          </a:p>
          <a:p/>
          <a:p>
            <a:r>
              <a:t>The **innovation** lies in the fusion of cutting-edge machine learning techniques with real-world datasets, ensuring practical applicability for farmers. Unlike generic tools, our platform delivers **personalized recommendations** tailored to each crop and region, helping farmers make smarter choices.</a:t>
            </a:r>
          </a:p>
          <a:p/>
          <a:p>
            <a:r>
              <a:t>This solution directly tackles the core problem: unpredictability in farming. By offering actionable insights, it not only improves productivity but also enhances food security and sustainability across agricultural communities.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Our **technical backbone** combines simplicity for farmers with the power of advanced data science. On the frontend, we rely on HTML, CSS, and JavaScript for a clean, mobile-optimized experience. The backend is powered by Python 3, leveraging Pandas and GeoPandas for data handling, and Scikit-learn for predictive modeling.</a:t>
            </a:r>
          </a:p>
          <a:p/>
          <a:p>
            <a:r>
              <a:t>The **workflow** is straightforward yet powerful: we ingest data from government crop production datasets, NASA POWER for weather, and ISRIC SoilGrids for soil properties. After preprocessing, the machine learning models generate predictions which are visualized in our interactive dashboard.</a:t>
            </a:r>
          </a:p>
          <a:p/>
          <a:p>
            <a:r>
              <a:t>The **prototype**—CropAI—provides farmers with personalized insights. They can enter parameters such as soil type, crop type, season, and area to instantly receive yield predictions and optimization tips. The integration of APIs ensures our system scales across regions, delivering real-time, data-driven intelligence.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Feasibility is a central concern for any innovation, and our solution addresses it head-on. By combining government agricultural data with global weather and soil datasets, we ensure that our system is **scalable, reliable, and sustainable**.</a:t>
            </a:r>
          </a:p>
          <a:p/>
          <a:p>
            <a:r>
              <a:t>However, challenges remain. Data quality can vary significantly, rural connectivity may limit access, and farmers may require capacity building to fully leverage the system. Trust in AI predictions is another crucial factor.</a:t>
            </a:r>
          </a:p>
          <a:p/>
          <a:p>
            <a:r>
              <a:t>To mitigate these risks, we propose **offline-ready features**, robust **multilingual support**, and active **training workshops** for farmers. Our models will undergo continuous retraining as new data becomes available, ensuring high accuracy across regions. This comprehensive approach makes our solution both **feasible and viable** in real-world agricultural ecosystems.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impact of our solution extends far beyond immediate crop yield predictions. By providing farmers with accurate, real-time insights, we empower them to make better decisions, reducing uncertainty and building confidence in adopting modern agricultural practices.</a:t>
            </a:r>
          </a:p>
          <a:p/>
          <a:p>
            <a:r>
              <a:t>From an **economic perspective**, the optimization of inputs like seeds, fertilizers, and irrigation ensures higher productivity at lower costs. This directly translates to increased farmer incomes and greater market stability.</a:t>
            </a:r>
          </a:p>
          <a:p/>
          <a:p>
            <a:r>
              <a:t>Equally important are the **environmental benefits**. With efficient resource utilization, our platform encourages sustainable farming practices and reduces the ecological footprint of agriculture. In the long term, this solution contributes to **food security, rural prosperity, and sustainable development**, aligning perfectly with India’s Smart Agriculture vision.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Every robust solution stands on a foundation of credible research and reliable data. Our project relies heavily on **open government datasets** like APY.csv, which provides accurate crop production data at district levels. This ensures that our model predictions are grounded in authentic national statistics.</a:t>
            </a:r>
          </a:p>
          <a:p/>
          <a:p>
            <a:r>
              <a:t>To account for environmental factors, we use the **NASA POWER API**, which provides detailed weather and climate datasets, while the **ISRIC SoilGrids API** supplies vital geospatial soil information. Together, these datasets enable high-accuracy yield predictions tailored to local conditions.</a:t>
            </a:r>
          </a:p>
          <a:p/>
          <a:p>
            <a:r>
              <a:t>In addition, our approach is informed by **global research** on AI in agriculture, machine learning for yield prediction, and sustainable farming. These references not only validate our methodology but also highlight the novelty and relevance of our solution in the global agricultural landscape.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matchingName="Section header">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matchingName="Agenda">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
        <p:nvSpPr>
          <p:cNvPr id="10" name="Subtitle 1"/>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1pPr>
            <a:lvl2pPr lvl="1">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2pPr>
            <a:lvl3pPr lvl="2">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3pPr>
            <a:lvl4pPr lvl="3">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4pPr>
            <a:lvl5pPr lvl="4">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5pPr>
            <a:lvl6pPr lvl="5">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6pPr>
            <a:lvl7pPr lvl="6">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7pPr>
            <a:lvl8pPr lvl="7">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8pPr>
            <a:lvl9pPr lvl="8">
              <a:spcBef>
                <a:spcPts val="0"/>
              </a:spcBef>
              <a:spcAft>
                <a:spcPts val="0"/>
              </a:spcAft>
              <a:buClr>
                <a:schemeClr val="dk1"/>
              </a:buClr>
              <a:buSzPts val="2800"/>
              <a:buFont typeface="Proxima Nova" panose="02000506030000020004"/>
              <a:buNone/>
              <a:defRPr sz="2800">
                <a:solidFill>
                  <a:schemeClr val="dk1"/>
                </a:solidFill>
                <a:latin typeface="Proxima Nova" panose="02000506030000020004"/>
                <a:ea typeface="Proxima Nova" panose="02000506030000020004"/>
                <a:cs typeface="Proxima Nova" panose="02000506030000020004"/>
                <a:sym typeface="Proxima Nova" panose="02000506030000020004"/>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panose="02000506030000020004"/>
              <a:buChar char="●"/>
              <a:defRPr sz="1800">
                <a:solidFill>
                  <a:schemeClr val="accent3"/>
                </a:solidFill>
                <a:latin typeface="Proxima Nova" panose="02000506030000020004"/>
                <a:ea typeface="Proxima Nova" panose="02000506030000020004"/>
                <a:cs typeface="Proxima Nova" panose="02000506030000020004"/>
                <a:sym typeface="Proxima Nova" panose="02000506030000020004"/>
              </a:defRPr>
            </a:lvl1pPr>
            <a:lvl2pPr marL="914400" lvl="1"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2pPr>
            <a:lvl3pPr marL="1371600" lvl="2"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3pPr>
            <a:lvl4pPr marL="1828800" lvl="3"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4pPr>
            <a:lvl5pPr marL="2286000" lvl="4"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5pPr>
            <a:lvl6pPr marL="2743200" lvl="5"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6pPr>
            <a:lvl7pPr marL="3200400" lvl="6"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7pPr>
            <a:lvl8pPr marL="3657600" lvl="7"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8pPr>
            <a:lvl9pPr marL="4114800" lvl="8" indent="-317500">
              <a:lnSpc>
                <a:spcPct val="115000"/>
              </a:lnSpc>
              <a:spcBef>
                <a:spcPts val="0"/>
              </a:spcBef>
              <a:spcAft>
                <a:spcPts val="0"/>
              </a:spcAft>
              <a:buClr>
                <a:schemeClr val="accent3"/>
              </a:buClr>
              <a:buSzPts val="1400"/>
              <a:buFont typeface="Proxima Nova" panose="02000506030000020004"/>
              <a:buChar char="■"/>
              <a:defRPr>
                <a:solidFill>
                  <a:schemeClr val="accent3"/>
                </a:solidFill>
                <a:latin typeface="Proxima Nova" panose="02000506030000020004"/>
                <a:ea typeface="Proxima Nova" panose="02000506030000020004"/>
                <a:cs typeface="Proxima Nova" panose="02000506030000020004"/>
                <a:sym typeface="Proxima Nova" panose="02000506030000020004"/>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1pPr>
            <a:lvl2pPr lvl="1"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2pPr>
            <a:lvl3pPr lvl="2"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3pPr>
            <a:lvl4pPr lvl="3"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4pPr>
            <a:lvl5pPr lvl="4"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5pPr>
            <a:lvl6pPr lvl="5"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6pPr>
            <a:lvl7pPr lvl="6"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7pPr>
            <a:lvl8pPr lvl="7"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8pPr>
            <a:lvl9pPr lvl="8" algn="r">
              <a:buNone/>
              <a:defRPr sz="1000">
                <a:solidFill>
                  <a:schemeClr val="dk1"/>
                </a:solidFill>
                <a:latin typeface="Proxima Nova" panose="02000506030000020004"/>
                <a:ea typeface="Proxima Nova" panose="02000506030000020004"/>
                <a:cs typeface="Proxima Nova" panose="02000506030000020004"/>
                <a:sym typeface="Proxima Nova" panose="020005060300000200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Text Placeholder 2"/>
          <p:cNvSpPr>
            <a:spLocks noGrp="1"/>
          </p:cNvSpPr>
          <p:nvPr>
            <p:ph type="body" idx="1"/>
          </p:nvPr>
        </p:nvSpPr>
        <p:spPr>
          <a:xfrm>
            <a:off x="311785" y="248285"/>
            <a:ext cx="8520430" cy="4797425"/>
          </a:xfrm>
        </p:spPr>
        <p:txBody>
          <a:bodyPr/>
          <a:p>
            <a:pPr marL="127000" indent="0">
              <a:buNone/>
            </a:pPr>
            <a:endParaRPr lang="en-US"/>
          </a:p>
        </p:txBody>
      </p:sp>
      <p:sp>
        <p:nvSpPr>
          <p:cNvPr id="4" name="Subtitle 3"/>
          <p:cNvSpPr>
            <a:spLocks noGrp="1"/>
          </p:cNvSpPr>
          <p:nvPr>
            <p:ph type="subTitle" idx="13"/>
          </p:nvPr>
        </p:nvSpPr>
        <p:spPr/>
        <p:txBody>
          <a:bodyPr/>
          <a:p>
            <a:r>
              <a:rPr lang="en-US"/>
              <a:t> </a:t>
            </a:r>
            <a:endParaRPr lang="en-US"/>
          </a:p>
        </p:txBody>
      </p:sp>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 y="-354965"/>
            <a:ext cx="8002270" cy="1382395"/>
          </a:xfrm>
        </p:spPr>
        <p:txBody>
          <a:bodyPr>
            <a:normAutofit/>
          </a:bodyPr>
          <a:lstStyle/>
          <a:p>
            <a:pPr algn="ct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SmartHarvest AI: A data-driven platform to accurately </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predict crop yields across India.</a:t>
            </a:r>
            <a:endParaRPr lang="en-US" altLang="en-US" sz="2000" dirty="0">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3"/>
          </p:nvPr>
        </p:nvSpPr>
        <p:spPr>
          <a:xfrm>
            <a:off x="311785" y="903605"/>
            <a:ext cx="8520430" cy="605790"/>
          </a:xfrm>
        </p:spPr>
        <p:txBody>
          <a:bodyPr>
            <a:normAutofit/>
          </a:bodyPr>
          <a:lstStyle/>
          <a:p>
            <a:r>
              <a:rPr dirty="0">
                <a:latin typeface="Times New Roman" panose="02020603050405020304" pitchFamily="18" charset="0"/>
                <a:cs typeface="Times New Roman" panose="02020603050405020304" pitchFamily="18" charset="0"/>
              </a:rPr>
              <a:t>Proposed Solution &amp; Innovation</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b="0" i="0">
                <a:solidFill>
                  <a:srgbClr val="616161"/>
                </a:solidFill>
                <a:latin typeface="Proxima Nova" panose="02000506030000020004"/>
              </a:defRPr>
            </a:pPr>
          </a:p>
        </p:txBody>
      </p:sp>
      <p:sp>
        <p:nvSpPr>
          <p:cNvPr id="7" name="Rectangle 6"/>
          <p:cNvSpPr/>
          <p:nvPr/>
        </p:nvSpPr>
        <p:spPr>
          <a:xfrm>
            <a:off x="228600" y="1508670"/>
            <a:ext cx="8686800" cy="309904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309904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1785" y="1277620"/>
            <a:ext cx="4259580" cy="3776345"/>
          </a:xfrm>
          <a:prstGeom prst="rect">
            <a:avLst/>
          </a:prstGeom>
          <a:noFill/>
          <a:ln>
            <a:noFill/>
          </a:ln>
        </p:spPr>
        <p:txBody>
          <a:bodyPr wrap="square" lIns="190500" tIns="0" rIns="0" bIns="190500" anchor="t">
            <a:noAutofit/>
          </a:bodyPr>
          <a:lstStyle/>
          <a:p>
            <a:pPr marL="228600" indent="-91440" algn="l">
              <a:spcBef>
                <a:spcPts val="0"/>
              </a:spcBef>
              <a:spcAft>
                <a:spcPts val="800"/>
              </a:spcAft>
              <a:buSzPct val="89000"/>
              <a:buFont typeface="Arial" panose="020B0604020202090204"/>
              <a:buChar char="•"/>
            </a:pPr>
            <a:r>
              <a:rPr sz="1200" b="1" i="0" dirty="0">
                <a:solidFill>
                  <a:srgbClr val="616161"/>
                </a:solidFill>
                <a:latin typeface="Times New Roman" panose="02020603050405020304" pitchFamily="18" charset="0"/>
                <a:cs typeface="Times New Roman" panose="02020603050405020304" pitchFamily="18" charset="0"/>
              </a:rPr>
              <a:t>Proposed Solution:</a:t>
            </a:r>
            <a:r>
              <a:rPr sz="1200" b="0" i="0" dirty="0">
                <a:solidFill>
                  <a:srgbClr val="616161"/>
                </a:solidFill>
                <a:latin typeface="Times New Roman" panose="02020603050405020304" pitchFamily="18" charset="0"/>
                <a:cs typeface="Times New Roman" panose="02020603050405020304" pitchFamily="18" charset="0"/>
              </a:rPr>
              <a:t> </a:t>
            </a:r>
            <a:r>
              <a:rPr lang="en-US" altLang="en-US" sz="1200" i="0" dirty="0">
                <a:solidFill>
                  <a:srgbClr val="616161"/>
                </a:solidFill>
                <a:uFillTx/>
                <a:latin typeface="Times New Roman" panose="02020603050405020304" pitchFamily="18" charset="0"/>
                <a:cs typeface="Times New Roman" panose="02020603050405020304" pitchFamily="18" charset="0"/>
              </a:rPr>
              <a:t>A predictive AI system that fuses soil properties, historical weather, and live satellite imagery to forecast crop yields with unparalleled accuracy.</a:t>
            </a:r>
            <a:endParaRPr lang="en-US" altLang="en-US" sz="1200" b="1" i="0" dirty="0">
              <a:solidFill>
                <a:srgbClr val="616161"/>
              </a:solidFill>
              <a:latin typeface="Times New Roman" panose="02020603050405020304" pitchFamily="18" charset="0"/>
              <a:cs typeface="Times New Roman" panose="02020603050405020304" pitchFamily="18" charset="0"/>
            </a:endParaRPr>
          </a:p>
          <a:p>
            <a:pPr marL="228600" indent="-91440" algn="l">
              <a:spcBef>
                <a:spcPts val="0"/>
              </a:spcBef>
              <a:spcAft>
                <a:spcPts val="800"/>
              </a:spcAft>
              <a:buSzPct val="89000"/>
              <a:buFont typeface="Arial" panose="020B0604020202090204"/>
              <a:buChar char="•"/>
            </a:pPr>
            <a:r>
              <a:rPr sz="1200" b="1" i="0" dirty="0">
                <a:solidFill>
                  <a:srgbClr val="616161"/>
                </a:solidFill>
                <a:latin typeface="Times New Roman" panose="02020603050405020304" pitchFamily="18" charset="0"/>
                <a:cs typeface="Times New Roman" panose="02020603050405020304" pitchFamily="18" charset="0"/>
              </a:rPr>
              <a:t>Innovation:</a:t>
            </a:r>
            <a:r>
              <a:rPr sz="1200" b="0" i="0" dirty="0">
                <a:solidFill>
                  <a:srgbClr val="616161"/>
                </a:solidFill>
                <a:latin typeface="Times New Roman" panose="02020603050405020304" pitchFamily="18" charset="0"/>
                <a:cs typeface="Times New Roman" panose="02020603050405020304" pitchFamily="18" charset="0"/>
              </a:rPr>
              <a:t> </a:t>
            </a:r>
            <a:r>
              <a:rPr lang="en-US" altLang="en-US" sz="1200" i="0" dirty="0">
                <a:solidFill>
                  <a:srgbClr val="616161"/>
                </a:solidFill>
                <a:uFillTx/>
                <a:latin typeface="Times New Roman" panose="02020603050405020304" pitchFamily="18" charset="0"/>
                <a:cs typeface="Times New Roman" panose="02020603050405020304" pitchFamily="18" charset="0"/>
              </a:rPr>
              <a:t>360</a:t>
            </a:r>
            <a:r>
              <a:rPr lang="en-US" altLang="en-US" sz="1200" i="0" dirty="0">
                <a:solidFill>
                  <a:srgbClr val="616161"/>
                </a:solidFill>
                <a:uFillTx/>
                <a:latin typeface="Times New Roman" panose="02020603050405020304" pitchFamily="18" charset="0"/>
                <a:cs typeface="Times New Roman" panose="02020603050405020304" pitchFamily="18" charset="0"/>
              </a:rPr>
              <a:t>°</a:t>
            </a:r>
            <a:r>
              <a:rPr lang="en-US" altLang="en-US" sz="1200" i="0" dirty="0">
                <a:solidFill>
                  <a:srgbClr val="616161"/>
                </a:solidFill>
                <a:uFillTx/>
                <a:latin typeface="Times New Roman" panose="02020603050405020304" pitchFamily="18" charset="0"/>
                <a:cs typeface="Times New Roman" panose="02020603050405020304" pitchFamily="18" charset="0"/>
              </a:rPr>
              <a:t> Data Fusion: Our model's key innovation is its ability to learn from the complete agricultural picture:</a:t>
            </a:r>
            <a:endParaRPr lang="en-US" altLang="en-US" sz="1200" i="0" dirty="0">
              <a:solidFill>
                <a:srgbClr val="616161"/>
              </a:solidFill>
              <a:uFillTx/>
              <a:latin typeface="Times New Roman" panose="02020603050405020304" pitchFamily="18" charset="0"/>
              <a:cs typeface="Times New Roman" panose="02020603050405020304" pitchFamily="18" charset="0"/>
            </a:endParaRPr>
          </a:p>
          <a:p>
            <a:pPr marL="137160" indent="0" algn="l">
              <a:spcBef>
                <a:spcPts val="0"/>
              </a:spcBef>
              <a:spcAft>
                <a:spcPts val="800"/>
              </a:spcAft>
              <a:buSzPct val="89000"/>
              <a:buFont typeface="Wingdings" panose="05000000000000000000" charset="0"/>
              <a:buNone/>
            </a:pPr>
            <a:r>
              <a:rPr lang="en-US" altLang="en-US" sz="1200" i="0" dirty="0">
                <a:solidFill>
                  <a:srgbClr val="616161"/>
                </a:solidFill>
                <a:uFillTx/>
                <a:latin typeface="Times New Roman" panose="02020603050405020304" pitchFamily="18" charset="0"/>
                <a:cs typeface="Times New Roman" panose="02020603050405020304" pitchFamily="18" charset="0"/>
              </a:rPr>
              <a:t>                1.  Soil Health (ISRIC SoilGrids API)</a:t>
            </a:r>
            <a:endParaRPr lang="en-US" altLang="en-US" sz="1200" i="0" dirty="0">
              <a:solidFill>
                <a:srgbClr val="616161"/>
              </a:solidFill>
              <a:uFillTx/>
              <a:latin typeface="Times New Roman" panose="02020603050405020304" pitchFamily="18" charset="0"/>
              <a:cs typeface="Times New Roman" panose="02020603050405020304" pitchFamily="18" charset="0"/>
            </a:endParaRPr>
          </a:p>
          <a:p>
            <a:pPr marL="137160" indent="0" algn="l">
              <a:spcBef>
                <a:spcPts val="0"/>
              </a:spcBef>
              <a:spcAft>
                <a:spcPts val="800"/>
              </a:spcAft>
              <a:buSzPct val="89000"/>
              <a:buFont typeface="Arial" panose="020B0604020202090204"/>
              <a:buNone/>
            </a:pPr>
            <a:r>
              <a:rPr lang="en-US" altLang="en-US" sz="1200" i="0" dirty="0">
                <a:solidFill>
                  <a:srgbClr val="616161"/>
                </a:solidFill>
                <a:uFillTx/>
                <a:latin typeface="Times New Roman" panose="02020603050405020304" pitchFamily="18" charset="0"/>
                <a:cs typeface="Times New Roman" panose="02020603050405020304" pitchFamily="18" charset="0"/>
              </a:rPr>
              <a:t>                2.  Climate Patterns (NASA POWER API)               </a:t>
            </a:r>
            <a:endParaRPr lang="en-US" altLang="en-US" sz="1200" i="0" dirty="0">
              <a:solidFill>
                <a:srgbClr val="616161"/>
              </a:solidFill>
              <a:uFillTx/>
              <a:latin typeface="Times New Roman" panose="02020603050405020304" pitchFamily="18" charset="0"/>
              <a:cs typeface="Times New Roman" panose="02020603050405020304" pitchFamily="18" charset="0"/>
            </a:endParaRPr>
          </a:p>
          <a:p>
            <a:pPr marL="137160" indent="0" algn="l">
              <a:spcBef>
                <a:spcPts val="0"/>
              </a:spcBef>
              <a:spcAft>
                <a:spcPts val="800"/>
              </a:spcAft>
              <a:buSzPct val="89000"/>
              <a:buFont typeface="Arial" panose="020B0604020202090204"/>
              <a:buNone/>
            </a:pPr>
            <a:r>
              <a:rPr lang="en-US" altLang="en-US" sz="1200" i="0" dirty="0">
                <a:solidFill>
                  <a:srgbClr val="616161"/>
                </a:solidFill>
                <a:uFillTx/>
                <a:latin typeface="Times New Roman" panose="02020603050405020304" pitchFamily="18" charset="0"/>
                <a:cs typeface="Times New Roman" panose="02020603050405020304" pitchFamily="18" charset="0"/>
              </a:rPr>
              <a:t>                3.  Real-Time Crop Growth (Satellite Imagery)</a:t>
            </a:r>
            <a:endParaRPr lang="en-US" altLang="en-US" sz="1200" i="0" dirty="0">
              <a:solidFill>
                <a:srgbClr val="616161"/>
              </a:solidFill>
              <a:uFillTx/>
              <a:latin typeface="Times New Roman" panose="02020603050405020304" pitchFamily="18" charset="0"/>
              <a:cs typeface="Times New Roman" panose="02020603050405020304" pitchFamily="18" charset="0"/>
            </a:endParaRPr>
          </a:p>
          <a:p>
            <a:pPr marL="137160" indent="0" algn="l" eaLnBrk="1" fontAlgn="auto" latinLnBrk="0" hangingPunct="1">
              <a:spcBef>
                <a:spcPts val="0"/>
              </a:spcBef>
              <a:spcAft>
                <a:spcPts val="800"/>
              </a:spcAft>
              <a:buSzPct val="89000"/>
              <a:buFont typeface="Arial" panose="020B0604020202090204"/>
              <a:buChar char="•"/>
            </a:pPr>
            <a:r>
              <a:rPr lang="en-US" sz="1200" b="1" i="0" dirty="0">
                <a:solidFill>
                  <a:srgbClr val="616161"/>
                </a:solidFill>
                <a:latin typeface="Times New Roman" panose="02020603050405020304" pitchFamily="18" charset="0"/>
                <a:cs typeface="Times New Roman" panose="02020603050405020304" pitchFamily="18" charset="0"/>
              </a:rPr>
              <a:t> </a:t>
            </a:r>
            <a:r>
              <a:rPr sz="1200" b="1" i="0" dirty="0">
                <a:solidFill>
                  <a:srgbClr val="616161"/>
                </a:solidFill>
                <a:latin typeface="Times New Roman" panose="02020603050405020304" pitchFamily="18" charset="0"/>
                <a:cs typeface="Times New Roman" panose="02020603050405020304" pitchFamily="18" charset="0"/>
              </a:rPr>
              <a:t>Uniqueness:</a:t>
            </a:r>
            <a:r>
              <a:rPr sz="1200" b="0" i="0" dirty="0">
                <a:solidFill>
                  <a:srgbClr val="616161"/>
                </a:solidFill>
                <a:latin typeface="Times New Roman" panose="02020603050405020304" pitchFamily="18" charset="0"/>
                <a:cs typeface="Times New Roman" panose="02020603050405020304" pitchFamily="18" charset="0"/>
              </a:rPr>
              <a:t> </a:t>
            </a:r>
            <a:r>
              <a:rPr lang="en-US" altLang="en-US" sz="1200" b="0" i="0" dirty="0">
                <a:solidFill>
                  <a:srgbClr val="616161"/>
                </a:solidFill>
                <a:latin typeface="Times New Roman" panose="02020603050405020304" pitchFamily="18" charset="0"/>
                <a:cs typeface="Times New Roman" panose="02020603050405020304" pitchFamily="18" charset="0"/>
              </a:rPr>
              <a:t>Actionable Intelligence:We don't just provide   data. we deliver actionable yield forecasts and optimization strategies through an interactive dashboard.</a:t>
            </a:r>
            <a:endParaRPr lang="en-US" altLang="en-US" sz="1200" b="0" i="0" dirty="0">
              <a:solidFill>
                <a:srgbClr val="616161"/>
              </a:solidFill>
              <a:latin typeface="Times New Roman" panose="02020603050405020304" pitchFamily="18" charset="0"/>
              <a:cs typeface="Times New Roman" panose="02020603050405020304" pitchFamily="18" charset="0"/>
            </a:endParaRPr>
          </a:p>
          <a:p>
            <a:pPr marL="228600" lvl="1" indent="-91440" algn="l">
              <a:spcBef>
                <a:spcPts val="1200"/>
              </a:spcBef>
              <a:spcAft>
                <a:spcPts val="0"/>
              </a:spcAft>
              <a:buSzPct val="89000"/>
              <a:buFont typeface="Arial" panose="020B0604020202090204"/>
              <a:buChar char="•"/>
            </a:pPr>
            <a:r>
              <a:rPr sz="1200" b="1" i="0" dirty="0">
                <a:solidFill>
                  <a:srgbClr val="616161"/>
                </a:solidFill>
                <a:latin typeface="Times New Roman" panose="02020603050405020304" pitchFamily="18" charset="0"/>
                <a:cs typeface="Times New Roman" panose="02020603050405020304" pitchFamily="18" charset="0"/>
              </a:rPr>
              <a:t>Problem Fit:</a:t>
            </a:r>
            <a:r>
              <a:rPr sz="1200" b="0" i="0" dirty="0">
                <a:solidFill>
                  <a:srgbClr val="616161"/>
                </a:solidFill>
                <a:latin typeface="Times New Roman" panose="02020603050405020304" pitchFamily="18" charset="0"/>
                <a:cs typeface="Times New Roman" panose="02020603050405020304" pitchFamily="18" charset="0"/>
              </a:rPr>
              <a:t> Addresses unpredictability in farming by delivering accurate, data-driven insights that reduce risks and increase productivity</a:t>
            </a:r>
            <a:r>
              <a:rPr sz="1200" b="0" i="0" dirty="0">
                <a:solidFill>
                  <a:srgbClr val="616161"/>
                </a:solidFill>
                <a:latin typeface="Proxima Nova" panose="02000506030000020004"/>
              </a:rPr>
              <a:t>.</a:t>
            </a:r>
            <a:endParaRPr sz="1200" b="0" i="0" dirty="0">
              <a:solidFill>
                <a:srgbClr val="616161"/>
              </a:solidFill>
              <a:latin typeface="Proxima Nova" panose="02000506030000020004"/>
            </a:endParaRPr>
          </a:p>
        </p:txBody>
      </p:sp>
      <p:sp>
        <p:nvSpPr>
          <p:cNvPr id="10" name="Rectangle 9"/>
          <p:cNvSpPr/>
          <p:nvPr/>
        </p:nvSpPr>
        <p:spPr>
          <a:xfrm>
            <a:off x="4724400" y="1508670"/>
            <a:ext cx="4190999" cy="3099048"/>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mc-crop"/>
          <p:cNvPicPr>
            <a:picLocks noChangeAspect="1"/>
          </p:cNvPicPr>
          <p:nvPr/>
        </p:nvPicPr>
        <p:blipFill>
          <a:blip r:embed="rId1"/>
          <a:srcRect l="1836" t="6576" b="9839"/>
          <a:stretch>
            <a:fillRect/>
          </a:stretch>
        </p:blipFill>
        <p:spPr>
          <a:xfrm>
            <a:off x="5022215" y="1076960"/>
            <a:ext cx="3728085" cy="35807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b="1" dirty="0">
                <a:latin typeface="Times New Roman" panose="02020603050405020304" pitchFamily="18" charset="0"/>
                <a:cs typeface="Times New Roman" panose="02020603050405020304" pitchFamily="18" charset="0"/>
              </a:rPr>
              <a:t>Technical Approach</a:t>
            </a:r>
            <a:endParaRPr b="1" dirty="0">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3"/>
          </p:nvPr>
        </p:nvSpPr>
        <p:spPr>
          <a:xfrm>
            <a:off x="353609" y="838656"/>
            <a:ext cx="8520599" cy="481810"/>
          </a:xfrm>
        </p:spPr>
        <p:txBody>
          <a:bodyPr>
            <a:normAutofit/>
          </a:bodyPr>
          <a:lstStyle/>
          <a:p>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Tech Stack, Workflow &amp; Prototype</a:t>
            </a:r>
            <a:endParaRPr dirty="0">
              <a:latin typeface="Times New Roman" panose="02020603050405020304" pitchFamily="18" charset="0"/>
              <a:cs typeface="Times New Roman" panose="02020603050405020304" pitchFamily="18" charset="0"/>
            </a:endParaRP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0" i="0">
                <a:solidFill>
                  <a:srgbClr val="616161"/>
                </a:solidFill>
                <a:latin typeface="Proxima Nova" panose="02000506030000020004"/>
              </a:defRPr>
            </a:pPr>
          </a:p>
        </p:txBody>
      </p:sp>
      <p:sp>
        <p:nvSpPr>
          <p:cNvPr id="7" name="Rectangle 6"/>
          <p:cNvSpPr/>
          <p:nvPr/>
        </p:nvSpPr>
        <p:spPr>
          <a:xfrm>
            <a:off x="228600" y="1508670"/>
            <a:ext cx="8686800"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760"/>
            <a:ext cx="4191000" cy="339979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27220" y="1506855"/>
            <a:ext cx="4077970" cy="2816860"/>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89000"/>
              <a:buFont typeface="Arial" panose="020B0604020202090204"/>
              <a:buChar char="•"/>
            </a:pPr>
            <a:r>
              <a:rPr sz="1100" b="1" i="0" dirty="0">
                <a:solidFill>
                  <a:srgbClr val="616161"/>
                </a:solidFill>
                <a:latin typeface="Times New Roman" panose="02020603050405020304" pitchFamily="18" charset="0"/>
                <a:cs typeface="Times New Roman" panose="02020603050405020304" pitchFamily="18" charset="0"/>
              </a:rPr>
              <a:t>Tech Stack:</a:t>
            </a:r>
            <a:r>
              <a:rPr sz="1100" b="0" i="0" dirty="0">
                <a:solidFill>
                  <a:srgbClr val="616161"/>
                </a:solidFill>
                <a:latin typeface="Times New Roman" panose="02020603050405020304" pitchFamily="18" charset="0"/>
                <a:cs typeface="Times New Roman" panose="02020603050405020304" pitchFamily="18" charset="0"/>
              </a:rPr>
              <a:t> Frontend: HTML, CSS, JS | Backend: Python 3 | </a:t>
            </a:r>
            <a:r>
              <a:rPr lang="en-US" sz="1100" b="0" i="0" dirty="0">
                <a:solidFill>
                  <a:srgbClr val="616161"/>
                </a:solidFill>
                <a:latin typeface="Times New Roman" panose="02020603050405020304" pitchFamily="18" charset="0"/>
                <a:cs typeface="Times New Roman" panose="02020603050405020304" pitchFamily="18" charset="0"/>
              </a:rPr>
              <a:t>| Database:MongoDB|</a:t>
            </a:r>
            <a:r>
              <a:rPr sz="1100" b="0" i="0" dirty="0">
                <a:solidFill>
                  <a:srgbClr val="616161"/>
                </a:solidFill>
                <a:latin typeface="Times New Roman" panose="02020603050405020304" pitchFamily="18" charset="0"/>
                <a:cs typeface="Times New Roman" panose="02020603050405020304" pitchFamily="18" charset="0"/>
              </a:rPr>
              <a:t>Core Libraries: Pandas, </a:t>
            </a:r>
            <a:r>
              <a:rPr sz="1100" b="0" i="0" dirty="0" err="1">
                <a:solidFill>
                  <a:srgbClr val="616161"/>
                </a:solidFill>
                <a:latin typeface="Times New Roman" panose="02020603050405020304" pitchFamily="18" charset="0"/>
                <a:cs typeface="Times New Roman" panose="02020603050405020304" pitchFamily="18" charset="0"/>
              </a:rPr>
              <a:t>GeoPandas</a:t>
            </a:r>
            <a:r>
              <a:rPr sz="1100" b="0" i="0" dirty="0">
                <a:solidFill>
                  <a:srgbClr val="616161"/>
                </a:solidFill>
                <a:latin typeface="Times New Roman" panose="02020603050405020304" pitchFamily="18" charset="0"/>
                <a:cs typeface="Times New Roman" panose="02020603050405020304" pitchFamily="18" charset="0"/>
              </a:rPr>
              <a:t>, Scikit-learn | APIs: NASA POWER, ISRIC </a:t>
            </a:r>
            <a:r>
              <a:rPr sz="1100" b="0" i="0" dirty="0" err="1">
                <a:solidFill>
                  <a:srgbClr val="616161"/>
                </a:solidFill>
                <a:latin typeface="Times New Roman" panose="02020603050405020304" pitchFamily="18" charset="0"/>
                <a:cs typeface="Times New Roman" panose="02020603050405020304" pitchFamily="18" charset="0"/>
              </a:rPr>
              <a:t>SoilGrids</a:t>
            </a:r>
            <a:r>
              <a:rPr sz="1100" b="0" i="0" dirty="0">
                <a:solidFill>
                  <a:srgbClr val="616161"/>
                </a:solidFill>
                <a:latin typeface="Times New Roman" panose="02020603050405020304" pitchFamily="18" charset="0"/>
                <a:cs typeface="Times New Roman" panose="02020603050405020304" pitchFamily="18" charset="0"/>
              </a:rPr>
              <a:t> | Data: Govt. Crop Production (APY.csv).</a:t>
            </a:r>
            <a:endParaRPr sz="1100" b="0" i="0" dirty="0">
              <a:solidFill>
                <a:srgbClr val="616161"/>
              </a:solidFill>
              <a:latin typeface="Times New Roman" panose="02020603050405020304" pitchFamily="18" charset="0"/>
              <a:cs typeface="Times New Roman" panose="02020603050405020304" pitchFamily="18" charset="0"/>
            </a:endParaRPr>
          </a:p>
          <a:p>
            <a:pPr marL="228600" lvl="1" indent="-91440" algn="l">
              <a:spcBef>
                <a:spcPts val="1200"/>
              </a:spcBef>
              <a:spcAft>
                <a:spcPts val="0"/>
              </a:spcAft>
              <a:buSzPct val="89000"/>
              <a:buFont typeface="Arial" panose="020B0604020202090204"/>
              <a:buChar char="•"/>
            </a:pPr>
            <a:r>
              <a:rPr sz="1100" b="1" i="0" dirty="0">
                <a:solidFill>
                  <a:srgbClr val="616161"/>
                </a:solidFill>
                <a:latin typeface="Times New Roman" panose="02020603050405020304" pitchFamily="18" charset="0"/>
                <a:cs typeface="Times New Roman" panose="02020603050405020304" pitchFamily="18" charset="0"/>
              </a:rPr>
              <a:t>Workflow:</a:t>
            </a:r>
            <a:r>
              <a:rPr sz="1100" b="0" i="0" dirty="0">
                <a:solidFill>
                  <a:srgbClr val="616161"/>
                </a:solidFill>
                <a:latin typeface="Times New Roman" panose="02020603050405020304" pitchFamily="18" charset="0"/>
                <a:cs typeface="Times New Roman" panose="02020603050405020304" pitchFamily="18" charset="0"/>
              </a:rPr>
              <a:t> Data collection → Preprocessing → Machine Learning model training → Prediction → Dashboard visualization with interactive UI.</a:t>
            </a:r>
            <a:endParaRPr sz="1100" b="0" i="0" dirty="0">
              <a:solidFill>
                <a:srgbClr val="616161"/>
              </a:solidFill>
              <a:latin typeface="Times New Roman" panose="02020603050405020304" pitchFamily="18" charset="0"/>
              <a:cs typeface="Times New Roman" panose="02020603050405020304" pitchFamily="18" charset="0"/>
            </a:endParaRPr>
          </a:p>
          <a:p>
            <a:pPr marL="228600" lvl="1" indent="-91440" algn="l">
              <a:spcBef>
                <a:spcPts val="1200"/>
              </a:spcBef>
              <a:spcAft>
                <a:spcPts val="0"/>
              </a:spcAft>
              <a:buSzPct val="89000"/>
              <a:buFont typeface="Arial" panose="020B0604020202090204"/>
              <a:buChar char="•"/>
            </a:pPr>
            <a:r>
              <a:rPr sz="1100" b="1" i="0" dirty="0">
                <a:solidFill>
                  <a:srgbClr val="616161"/>
                </a:solidFill>
                <a:latin typeface="Times New Roman" panose="02020603050405020304" pitchFamily="18" charset="0"/>
                <a:cs typeface="Times New Roman" panose="02020603050405020304" pitchFamily="18" charset="0"/>
              </a:rPr>
              <a:t>Prototype:</a:t>
            </a:r>
            <a:r>
              <a:rPr sz="1100" b="0" i="0" dirty="0">
                <a:solidFill>
                  <a:srgbClr val="616161"/>
                </a:solidFill>
                <a:latin typeface="Times New Roman" panose="02020603050405020304" pitchFamily="18" charset="0"/>
                <a:cs typeface="Times New Roman" panose="02020603050405020304" pitchFamily="18" charset="0"/>
              </a:rPr>
              <a:t> </a:t>
            </a:r>
            <a:r>
              <a:rPr lang="en-US" altLang="en-US" sz="1200" i="0" dirty="0">
                <a:solidFill>
                  <a:srgbClr val="616161"/>
                </a:solidFill>
                <a:uFillTx/>
                <a:latin typeface="Times New Roman" panose="02020603050405020304" pitchFamily="18" charset="0"/>
                <a:cs typeface="Times New Roman" panose="02020603050405020304" pitchFamily="18" charset="0"/>
              </a:rPr>
              <a:t>Live Dashboard with secure user login.Real-time prediction form &amp; prediction history log. </a:t>
            </a:r>
            <a:endParaRPr lang="en-US" altLang="en-US" sz="1200" i="0" dirty="0">
              <a:solidFill>
                <a:srgbClr val="616161"/>
              </a:solidFill>
              <a:uFillTx/>
              <a:latin typeface="Times New Roman" panose="02020603050405020304" pitchFamily="18" charset="0"/>
              <a:cs typeface="Times New Roman" panose="02020603050405020304" pitchFamily="18" charset="0"/>
            </a:endParaRPr>
          </a:p>
          <a:p>
            <a:pPr marL="137160" lvl="1" indent="0" algn="l">
              <a:spcBef>
                <a:spcPts val="1200"/>
              </a:spcBef>
              <a:spcAft>
                <a:spcPts val="0"/>
              </a:spcAft>
              <a:buSzPct val="89000"/>
              <a:buFont typeface="Arial" panose="020B0604020202090204"/>
              <a:buChar char="•"/>
            </a:pPr>
            <a:r>
              <a:rPr lang="en-US" sz="1100" b="1" i="0" dirty="0">
                <a:solidFill>
                  <a:srgbClr val="616161"/>
                </a:solidFill>
                <a:latin typeface="Times New Roman" panose="02020603050405020304" pitchFamily="18" charset="0"/>
                <a:cs typeface="Times New Roman" panose="02020603050405020304" pitchFamily="18" charset="0"/>
              </a:rPr>
              <a:t> </a:t>
            </a:r>
            <a:r>
              <a:rPr sz="1100" b="1" i="0" dirty="0">
                <a:solidFill>
                  <a:srgbClr val="616161"/>
                </a:solidFill>
                <a:latin typeface="Times New Roman" panose="02020603050405020304" pitchFamily="18" charset="0"/>
                <a:cs typeface="Times New Roman" panose="02020603050405020304" pitchFamily="18" charset="0"/>
              </a:rPr>
              <a:t>Integration:</a:t>
            </a:r>
            <a:r>
              <a:rPr sz="1100" b="0" i="0" dirty="0">
                <a:solidFill>
                  <a:srgbClr val="616161"/>
                </a:solidFill>
                <a:latin typeface="Times New Roman" panose="02020603050405020304" pitchFamily="18" charset="0"/>
                <a:cs typeface="Times New Roman" panose="02020603050405020304" pitchFamily="18" charset="0"/>
              </a:rPr>
              <a:t> APIs seamlessly connect real-time weather, soil, and government datasets to ensure accurate, scalable predictions across regions.</a:t>
            </a:r>
            <a:endParaRPr sz="1100" b="0" i="0" dirty="0">
              <a:solidFill>
                <a:srgbClr val="61616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4724400" y="1508670"/>
            <a:ext cx="4190999" cy="312717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reen Minimalist Business Strategy Analysis Checklist Instagram Post"/>
          <p:cNvPicPr>
            <a:picLocks noChangeAspect="1"/>
          </p:cNvPicPr>
          <p:nvPr/>
        </p:nvPicPr>
        <p:blipFill>
          <a:blip r:embed="rId1"/>
          <a:stretch>
            <a:fillRect/>
          </a:stretch>
        </p:blipFill>
        <p:spPr>
          <a:xfrm>
            <a:off x="227330" y="650875"/>
            <a:ext cx="4361180" cy="43611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b="1" dirty="0">
                <a:latin typeface="Times New Roman" panose="02020603050405020304" pitchFamily="18" charset="0"/>
                <a:cs typeface="Times New Roman" panose="02020603050405020304" pitchFamily="18" charset="0"/>
              </a:rPr>
              <a:t>Feasibility and Viability</a:t>
            </a:r>
            <a:endParaRPr b="1" dirty="0">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3"/>
          </p:nvPr>
        </p:nvSpPr>
        <p:spPr/>
        <p:txBody>
          <a:bodyPr>
            <a:normAutofit/>
          </a:bodyPr>
          <a:lstStyle/>
          <a:p>
            <a:r>
              <a:rPr dirty="0">
                <a:latin typeface="Times New Roman" panose="02020603050405020304" pitchFamily="18" charset="0"/>
                <a:cs typeface="Times New Roman" panose="02020603050405020304" pitchFamily="18" charset="0"/>
              </a:rPr>
              <a:t>Challenges, Risks &amp; Strategies</a:t>
            </a:r>
            <a:endParaRPr dirty="0">
              <a:latin typeface="Times New Roman" panose="02020603050405020304" pitchFamily="18" charset="0"/>
              <a:cs typeface="Times New Roman" panose="02020603050405020304" pitchFamily="18" charset="0"/>
            </a:endParaRP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panose="02000506030000020004"/>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86800" cy="2864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71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71700" y="1508670"/>
            <a:ext cx="304800" cy="304800"/>
          </a:xfrm>
          <a:prstGeom prst="rect">
            <a:avLst/>
          </a:prstGeom>
          <a:noFill/>
          <a:ln>
            <a:noFill/>
          </a:ln>
        </p:spPr>
        <p:txBody>
          <a:bodyPr wrap="square" lIns="0" tIns="0" rIns="0" bIns="0" anchor="t">
            <a:spAutoFit/>
          </a:bodyPr>
          <a:lstStyle/>
          <a:p>
            <a:pPr algn="ctr"/>
          </a:p>
        </p:txBody>
      </p:sp>
      <p:pic>
        <p:nvPicPr>
          <p:cNvPr id="12" name="Picture 11" descr="tmp0isjq5yx.png"/>
          <p:cNvPicPr>
            <a:picLocks noChangeAspect="1"/>
          </p:cNvPicPr>
          <p:nvPr/>
        </p:nvPicPr>
        <p:blipFill>
          <a:blip r:embed="rId1"/>
          <a:stretch>
            <a:fillRect/>
          </a:stretch>
        </p:blipFill>
        <p:spPr>
          <a:xfrm>
            <a:off x="2171700" y="1508670"/>
            <a:ext cx="304800" cy="304800"/>
          </a:xfrm>
          <a:prstGeom prst="rect">
            <a:avLst/>
          </a:prstGeom>
        </p:spPr>
      </p:pic>
      <p:sp>
        <p:nvSpPr>
          <p:cNvPr id="13" name="TextBox 12"/>
          <p:cNvSpPr txBox="1"/>
          <p:nvPr/>
        </p:nvSpPr>
        <p:spPr>
          <a:xfrm>
            <a:off x="228600" y="1965870"/>
            <a:ext cx="4190999" cy="800219"/>
          </a:xfrm>
          <a:prstGeom prst="rect">
            <a:avLst/>
          </a:prstGeom>
          <a:noFill/>
          <a:ln>
            <a:noFill/>
          </a:ln>
        </p:spPr>
        <p:txBody>
          <a:bodyPr wrap="square" lIns="0" tIns="0" rIns="0" bIns="0" anchor="t">
            <a:spAutoFit/>
          </a:bodyPr>
          <a:lstStyle/>
          <a:p>
            <a:pPr algn="ctr"/>
            <a:r>
              <a:rPr sz="1300" b="1" i="0" dirty="0">
                <a:solidFill>
                  <a:srgbClr val="616161"/>
                </a:solidFill>
                <a:latin typeface="Times New Roman" panose="02020603050405020304" pitchFamily="18" charset="0"/>
                <a:cs typeface="Times New Roman" panose="02020603050405020304" pitchFamily="18" charset="0"/>
              </a:rPr>
              <a:t>Feasibility</a:t>
            </a:r>
            <a:endParaRPr sz="1300" b="1" i="0" dirty="0">
              <a:solidFill>
                <a:srgbClr val="616161"/>
              </a:solidFill>
              <a:latin typeface="Times New Roman" panose="02020603050405020304" pitchFamily="18" charset="0"/>
              <a:cs typeface="Times New Roman" panose="02020603050405020304" pitchFamily="18" charset="0"/>
            </a:endParaRPr>
          </a:p>
          <a:p>
            <a:pPr algn="ctr">
              <a:spcAft>
                <a:spcPts val="1200"/>
              </a:spcAft>
            </a:pPr>
            <a:r>
              <a:rPr sz="1300" b="0" i="0" dirty="0">
                <a:solidFill>
                  <a:srgbClr val="616161"/>
                </a:solidFill>
                <a:latin typeface="Times New Roman" panose="02020603050405020304" pitchFamily="18" charset="0"/>
                <a:cs typeface="Times New Roman" panose="02020603050405020304" pitchFamily="18" charset="0"/>
              </a:rPr>
              <a:t>Leverages open government crop data, global soil and weather APIs, and scalable machine learning frameworks for sustainable deployment.</a:t>
            </a:r>
            <a:endParaRPr sz="1300" b="0" i="0" dirty="0">
              <a:solidFill>
                <a:srgbClr val="61616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4724400" y="1508670"/>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675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67500" y="1508670"/>
            <a:ext cx="304800" cy="304800"/>
          </a:xfrm>
          <a:prstGeom prst="rect">
            <a:avLst/>
          </a:prstGeom>
          <a:noFill/>
          <a:ln>
            <a:noFill/>
          </a:ln>
        </p:spPr>
        <p:txBody>
          <a:bodyPr wrap="square" lIns="0" tIns="0" rIns="0" bIns="0" anchor="t">
            <a:spAutoFit/>
          </a:bodyPr>
          <a:lstStyle/>
          <a:p>
            <a:pPr algn="ctr"/>
          </a:p>
        </p:txBody>
      </p:sp>
      <p:pic>
        <p:nvPicPr>
          <p:cNvPr id="17" name="Picture 16" descr="tmpfwej683n.png"/>
          <p:cNvPicPr>
            <a:picLocks noChangeAspect="1"/>
          </p:cNvPicPr>
          <p:nvPr/>
        </p:nvPicPr>
        <p:blipFill>
          <a:blip r:embed="rId2"/>
          <a:stretch>
            <a:fillRect/>
          </a:stretch>
        </p:blipFill>
        <p:spPr>
          <a:xfrm>
            <a:off x="6667500" y="1508670"/>
            <a:ext cx="304800" cy="304800"/>
          </a:xfrm>
          <a:prstGeom prst="rect">
            <a:avLst/>
          </a:prstGeom>
        </p:spPr>
      </p:pic>
      <p:sp>
        <p:nvSpPr>
          <p:cNvPr id="18" name="TextBox 17"/>
          <p:cNvSpPr txBox="1"/>
          <p:nvPr/>
        </p:nvSpPr>
        <p:spPr>
          <a:xfrm>
            <a:off x="4724400" y="1965870"/>
            <a:ext cx="4190999" cy="600164"/>
          </a:xfrm>
          <a:prstGeom prst="rect">
            <a:avLst/>
          </a:prstGeom>
          <a:noFill/>
          <a:ln>
            <a:noFill/>
          </a:ln>
        </p:spPr>
        <p:txBody>
          <a:bodyPr wrap="square" lIns="0" tIns="0" rIns="0" bIns="0" anchor="t">
            <a:spAutoFit/>
          </a:bodyPr>
          <a:lstStyle/>
          <a:p>
            <a:pPr algn="ctr"/>
            <a:r>
              <a:rPr sz="1300" b="1" i="0" dirty="0">
                <a:solidFill>
                  <a:srgbClr val="616161"/>
                </a:solidFill>
                <a:latin typeface="Times New Roman" panose="02020603050405020304" pitchFamily="18" charset="0"/>
                <a:cs typeface="Times New Roman" panose="02020603050405020304" pitchFamily="18" charset="0"/>
              </a:rPr>
              <a:t>Key Challenges</a:t>
            </a:r>
            <a:endParaRPr sz="1300" b="1" i="0" dirty="0">
              <a:solidFill>
                <a:srgbClr val="616161"/>
              </a:solidFill>
              <a:latin typeface="Times New Roman" panose="02020603050405020304" pitchFamily="18" charset="0"/>
              <a:cs typeface="Times New Roman" panose="02020603050405020304" pitchFamily="18" charset="0"/>
            </a:endParaRPr>
          </a:p>
          <a:p>
            <a:pPr algn="ctr">
              <a:spcAft>
                <a:spcPts val="1200"/>
              </a:spcAft>
            </a:pPr>
            <a:r>
              <a:rPr sz="1300" b="0" i="0" dirty="0">
                <a:solidFill>
                  <a:srgbClr val="616161"/>
                </a:solidFill>
                <a:latin typeface="Times New Roman" panose="02020603050405020304" pitchFamily="18" charset="0"/>
                <a:cs typeface="Times New Roman" panose="02020603050405020304" pitchFamily="18" charset="0"/>
              </a:rPr>
              <a:t>Data quality inconsistencies, rural internet limitations, and farmer training gaps may affect adoption and accuracy.</a:t>
            </a:r>
            <a:endParaRPr sz="1300" b="0" i="0" dirty="0">
              <a:solidFill>
                <a:srgbClr val="616161"/>
              </a:solidFill>
              <a:latin typeface="Times New Roman" panose="02020603050405020304" pitchFamily="18" charset="0"/>
              <a:cs typeface="Times New Roman" panose="02020603050405020304" pitchFamily="18" charset="0"/>
            </a:endParaRPr>
          </a:p>
        </p:txBody>
      </p:sp>
      <p:sp>
        <p:nvSpPr>
          <p:cNvPr id="19" name="Rectangle 18"/>
          <p:cNvSpPr/>
          <p:nvPr/>
        </p:nvSpPr>
        <p:spPr>
          <a:xfrm>
            <a:off x="2286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1717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71700" y="3093392"/>
            <a:ext cx="304800" cy="304800"/>
          </a:xfrm>
          <a:prstGeom prst="rect">
            <a:avLst/>
          </a:prstGeom>
          <a:noFill/>
          <a:ln>
            <a:noFill/>
          </a:ln>
        </p:spPr>
        <p:txBody>
          <a:bodyPr wrap="square" lIns="0" tIns="0" rIns="0" bIns="0" anchor="t">
            <a:spAutoFit/>
          </a:bodyPr>
          <a:lstStyle/>
          <a:p>
            <a:pPr algn="ctr"/>
          </a:p>
        </p:txBody>
      </p:sp>
      <p:pic>
        <p:nvPicPr>
          <p:cNvPr id="22" name="Picture 21" descr="tmp34q79orf.png"/>
          <p:cNvPicPr>
            <a:picLocks noChangeAspect="1"/>
          </p:cNvPicPr>
          <p:nvPr/>
        </p:nvPicPr>
        <p:blipFill>
          <a:blip r:embed="rId3"/>
          <a:stretch>
            <a:fillRect/>
          </a:stretch>
        </p:blipFill>
        <p:spPr>
          <a:xfrm>
            <a:off x="2171700" y="3093392"/>
            <a:ext cx="304800" cy="304800"/>
          </a:xfrm>
          <a:prstGeom prst="rect">
            <a:avLst/>
          </a:prstGeom>
        </p:spPr>
      </p:pic>
      <p:sp>
        <p:nvSpPr>
          <p:cNvPr id="23" name="TextBox 22"/>
          <p:cNvSpPr txBox="1"/>
          <p:nvPr/>
        </p:nvSpPr>
        <p:spPr>
          <a:xfrm>
            <a:off x="228600" y="3550592"/>
            <a:ext cx="4190999" cy="600164"/>
          </a:xfrm>
          <a:prstGeom prst="rect">
            <a:avLst/>
          </a:prstGeom>
          <a:noFill/>
          <a:ln>
            <a:noFill/>
          </a:ln>
        </p:spPr>
        <p:txBody>
          <a:bodyPr wrap="square" lIns="0" tIns="0" rIns="0" bIns="0" anchor="t">
            <a:spAutoFit/>
          </a:bodyPr>
          <a:lstStyle/>
          <a:p>
            <a:pPr algn="ctr"/>
            <a:r>
              <a:rPr sz="1300" b="1" i="0" dirty="0">
                <a:solidFill>
                  <a:srgbClr val="616161"/>
                </a:solidFill>
                <a:latin typeface="Times New Roman" panose="02020603050405020304" pitchFamily="18" charset="0"/>
                <a:cs typeface="Times New Roman" panose="02020603050405020304" pitchFamily="18" charset="0"/>
              </a:rPr>
              <a:t>Risks</a:t>
            </a:r>
            <a:endParaRPr sz="1300" b="1" i="0" dirty="0">
              <a:solidFill>
                <a:srgbClr val="616161"/>
              </a:solidFill>
              <a:latin typeface="Times New Roman" panose="02020603050405020304" pitchFamily="18" charset="0"/>
              <a:cs typeface="Times New Roman" panose="02020603050405020304" pitchFamily="18" charset="0"/>
            </a:endParaRPr>
          </a:p>
          <a:p>
            <a:pPr algn="ctr">
              <a:spcAft>
                <a:spcPts val="1200"/>
              </a:spcAft>
            </a:pPr>
            <a:r>
              <a:rPr sz="1300" b="0" i="0" dirty="0">
                <a:solidFill>
                  <a:srgbClr val="616161"/>
                </a:solidFill>
                <a:latin typeface="Times New Roman" panose="02020603050405020304" pitchFamily="18" charset="0"/>
                <a:cs typeface="Times New Roman" panose="02020603050405020304" pitchFamily="18" charset="0"/>
              </a:rPr>
              <a:t>Scalability across diverse regions, trust in AI predictions, and integration with traditional farming practices.</a:t>
            </a:r>
            <a:endParaRPr sz="1300" b="0" i="0" dirty="0">
              <a:solidFill>
                <a:srgbClr val="61616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4724400" y="3093392"/>
            <a:ext cx="419099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67500" y="3093392"/>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67500" y="3093392"/>
            <a:ext cx="304800" cy="304800"/>
          </a:xfrm>
          <a:prstGeom prst="rect">
            <a:avLst/>
          </a:prstGeom>
          <a:noFill/>
          <a:ln>
            <a:noFill/>
          </a:ln>
        </p:spPr>
        <p:txBody>
          <a:bodyPr wrap="square" lIns="0" tIns="0" rIns="0" bIns="0" anchor="t">
            <a:spAutoFit/>
          </a:bodyPr>
          <a:lstStyle/>
          <a:p>
            <a:pPr algn="ctr"/>
          </a:p>
        </p:txBody>
      </p:sp>
      <p:pic>
        <p:nvPicPr>
          <p:cNvPr id="27" name="Picture 26" descr="tmp1zspq9sw.png"/>
          <p:cNvPicPr>
            <a:picLocks noChangeAspect="1"/>
          </p:cNvPicPr>
          <p:nvPr/>
        </p:nvPicPr>
        <p:blipFill>
          <a:blip r:embed="rId4"/>
          <a:stretch>
            <a:fillRect/>
          </a:stretch>
        </p:blipFill>
        <p:spPr>
          <a:xfrm>
            <a:off x="6667500" y="3093392"/>
            <a:ext cx="304800" cy="304800"/>
          </a:xfrm>
          <a:prstGeom prst="rect">
            <a:avLst/>
          </a:prstGeom>
        </p:spPr>
      </p:pic>
      <p:sp>
        <p:nvSpPr>
          <p:cNvPr id="28" name="TextBox 27"/>
          <p:cNvSpPr txBox="1"/>
          <p:nvPr/>
        </p:nvSpPr>
        <p:spPr>
          <a:xfrm>
            <a:off x="4724400" y="3550592"/>
            <a:ext cx="4190999" cy="800219"/>
          </a:xfrm>
          <a:prstGeom prst="rect">
            <a:avLst/>
          </a:prstGeom>
          <a:noFill/>
          <a:ln>
            <a:noFill/>
          </a:ln>
        </p:spPr>
        <p:txBody>
          <a:bodyPr wrap="square" lIns="0" tIns="0" rIns="0" bIns="0" anchor="t">
            <a:spAutoFit/>
          </a:bodyPr>
          <a:lstStyle/>
          <a:p>
            <a:pPr algn="ctr"/>
            <a:r>
              <a:rPr sz="1300" b="1" i="0" dirty="0">
                <a:solidFill>
                  <a:srgbClr val="616161"/>
                </a:solidFill>
                <a:latin typeface="Times New Roman" panose="02020603050405020304" pitchFamily="18" charset="0"/>
                <a:cs typeface="Times New Roman" panose="02020603050405020304" pitchFamily="18" charset="0"/>
              </a:rPr>
              <a:t>Mitigation Strategies</a:t>
            </a:r>
            <a:endParaRPr sz="1300" b="1" i="0" dirty="0">
              <a:solidFill>
                <a:srgbClr val="616161"/>
              </a:solidFill>
              <a:latin typeface="Times New Roman" panose="02020603050405020304" pitchFamily="18" charset="0"/>
              <a:cs typeface="Times New Roman" panose="02020603050405020304" pitchFamily="18" charset="0"/>
            </a:endParaRPr>
          </a:p>
          <a:p>
            <a:pPr algn="ctr">
              <a:spcAft>
                <a:spcPts val="1200"/>
              </a:spcAft>
            </a:pPr>
            <a:r>
              <a:rPr sz="1300" b="0" i="0" dirty="0">
                <a:solidFill>
                  <a:srgbClr val="616161"/>
                </a:solidFill>
                <a:latin typeface="Times New Roman" panose="02020603050405020304" pitchFamily="18" charset="0"/>
                <a:cs typeface="Times New Roman" panose="02020603050405020304" pitchFamily="18" charset="0"/>
              </a:rPr>
              <a:t>Offline-ready features, community training workshops, multilingual support, and continuous model retraining to enhance accuracy.</a:t>
            </a:r>
            <a:endParaRPr sz="1300" b="0" i="0" dirty="0">
              <a:solidFill>
                <a:srgbClr val="61616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b="1" dirty="0">
                <a:latin typeface="Times New Roman" panose="02020603050405020304" pitchFamily="18" charset="0"/>
                <a:cs typeface="Times New Roman" panose="02020603050405020304" pitchFamily="18" charset="0"/>
              </a:rPr>
              <a:t>Impact and Benefits</a:t>
            </a:r>
            <a:endParaRPr b="1" dirty="0">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3"/>
          </p:nvPr>
        </p:nvSpPr>
        <p:spPr>
          <a:xfrm>
            <a:off x="228600" y="609217"/>
            <a:ext cx="8520599" cy="481810"/>
          </a:xfrm>
        </p:spPr>
        <p:txBody>
          <a:bodyPr>
            <a:normAutofit/>
          </a:bodyPr>
          <a:lstStyle/>
          <a:p>
            <a:r>
              <a:rPr dirty="0">
                <a:latin typeface="Times New Roman" panose="02020603050405020304" pitchFamily="18" charset="0"/>
                <a:cs typeface="Times New Roman" panose="02020603050405020304" pitchFamily="18" charset="0"/>
              </a:rPr>
              <a:t>Empowering Farmers &amp; Driving Sustainability</a:t>
            </a:r>
            <a:endParaRPr dirty="0">
              <a:latin typeface="Times New Roman" panose="02020603050405020304" pitchFamily="18" charset="0"/>
              <a:cs typeface="Times New Roman" panose="02020603050405020304" pitchFamily="18" charset="0"/>
            </a:endParaRP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panose="02000506030000020004"/>
              </a:defRPr>
            </a:pPr>
          </a:p>
        </p:txBody>
      </p:sp>
      <p:sp>
        <p:nvSpPr>
          <p:cNvPr id="7" name="Rectangle 6"/>
          <p:cNvSpPr/>
          <p:nvPr/>
        </p:nvSpPr>
        <p:spPr>
          <a:xfrm>
            <a:off x="228600" y="1508670"/>
            <a:ext cx="8686800"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938530"/>
            <a:ext cx="4191000" cy="3686175"/>
          </a:xfrm>
          <a:prstGeom prst="rect">
            <a:avLst/>
          </a:prstGeom>
          <a:noFill/>
          <a:ln>
            <a:noFill/>
          </a:ln>
        </p:spPr>
        <p:txBody>
          <a:bodyPr wrap="square" lIns="190500" tIns="0" rIns="0" bIns="190500" anchor="t">
            <a:noAutofit/>
          </a:bodyPr>
          <a:lstStyle/>
          <a:p>
            <a:pPr marL="137160" indent="0" algn="l">
              <a:spcBef>
                <a:spcPts val="0"/>
              </a:spcBef>
              <a:spcAft>
                <a:spcPts val="800"/>
              </a:spcAft>
              <a:buSzPct val="100000"/>
              <a:buFont typeface="Arial" panose="020B0604020202090204"/>
              <a:buNone/>
            </a:pPr>
            <a:r>
              <a:rPr lang="en-US" altLang="en-US" sz="1600" b="1" i="0" dirty="0">
                <a:solidFill>
                  <a:srgbClr val="616161"/>
                </a:solidFill>
                <a:uFillTx/>
                <a:latin typeface="Times New Roman Bold" panose="02020603050405020304" charset="0"/>
                <a:ea typeface="Arial Bold" panose="020B0604020202090204" charset="0"/>
                <a:cs typeface="Times New Roman" panose="02020603050405020304" pitchFamily="18" charset="0"/>
              </a:rPr>
              <a:t>Impact</a:t>
            </a:r>
            <a:endParaRPr lang="en-US" altLang="en-US" sz="1600" b="1" i="0" dirty="0">
              <a:solidFill>
                <a:srgbClr val="616161"/>
              </a:solidFill>
              <a:uFillTx/>
              <a:latin typeface="Times New Roman Bold" panose="02020603050405020304" charset="0"/>
              <a:ea typeface="Arial Bold" panose="020B0604020202090204" charset="0"/>
              <a:cs typeface="Times New Roman" panose="02020603050405020304" pitchFamily="18" charset="0"/>
            </a:endParaRPr>
          </a:p>
          <a:p>
            <a:pPr marL="228600" indent="-91440" algn="l">
              <a:spcBef>
                <a:spcPts val="0"/>
              </a:spcBef>
              <a:spcAft>
                <a:spcPts val="800"/>
              </a:spcAft>
              <a:buSzPct val="100000"/>
              <a:buFont typeface="Arial" panose="020B0604020202090204"/>
              <a:buChar char="•"/>
            </a:pPr>
            <a:r>
              <a:rPr lang="en-US" altLang="en-US" sz="1300" b="0" i="0" dirty="0">
                <a:solidFill>
                  <a:srgbClr val="616161"/>
                </a:solidFill>
                <a:latin typeface="Times New Roman" panose="02020603050405020304" pitchFamily="18" charset="0"/>
                <a:cs typeface="Times New Roman" panose="02020603050405020304" pitchFamily="18" charset="0"/>
              </a:rPr>
              <a:t>Farmers: Empowers them with data-driven insights to reduce risk and increase profitability at least 10% .</a:t>
            </a: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228600" indent="-91440" algn="l">
              <a:spcBef>
                <a:spcPts val="0"/>
              </a:spcBef>
              <a:spcAft>
                <a:spcPts val="800"/>
              </a:spcAft>
              <a:buSzPct val="100000"/>
              <a:buFont typeface="Arial" panose="020B0604020202090204"/>
              <a:buChar char="•"/>
            </a:pPr>
            <a:r>
              <a:rPr lang="en-US" altLang="en-US" sz="1300" b="0" i="0" dirty="0">
                <a:solidFill>
                  <a:srgbClr val="616161"/>
                </a:solidFill>
                <a:latin typeface="Times New Roman" panose="02020603050405020304" pitchFamily="18" charset="0"/>
                <a:cs typeface="Times New Roman" panose="02020603050405020304" pitchFamily="18" charset="0"/>
              </a:rPr>
              <a:t>Government: Enables accurate national food supply forecasting and the design of effective, targeted agricultural policies.</a:t>
            </a: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228600" indent="-91440" algn="l">
              <a:spcBef>
                <a:spcPts val="0"/>
              </a:spcBef>
              <a:spcAft>
                <a:spcPts val="800"/>
              </a:spcAft>
              <a:buSzPct val="100000"/>
              <a:buFont typeface="Arial" panose="020B0604020202090204"/>
              <a:buChar char="•"/>
            </a:pPr>
            <a:r>
              <a:rPr lang="en-US" altLang="en-US" sz="1300" b="0" i="0" dirty="0">
                <a:solidFill>
                  <a:srgbClr val="616161"/>
                </a:solidFill>
                <a:latin typeface="Times New Roman" panose="02020603050405020304" pitchFamily="18" charset="0"/>
                <a:cs typeface="Times New Roman" panose="02020603050405020304" pitchFamily="18" charset="0"/>
              </a:rPr>
              <a:t>Agribusiness: Improves risk models for crop insurance and enhances overall market efficiency for traders and logistics.</a:t>
            </a: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137160" indent="0" algn="l">
              <a:spcBef>
                <a:spcPts val="0"/>
              </a:spcBef>
              <a:spcAft>
                <a:spcPts val="800"/>
              </a:spcAft>
              <a:buSzPct val="100000"/>
              <a:buFont typeface="Arial" panose="020B0604020202090204"/>
              <a:buNone/>
            </a:pPr>
            <a:r>
              <a:rPr lang="en-US" altLang="en-US" sz="1800" b="1" i="0" dirty="0">
                <a:solidFill>
                  <a:srgbClr val="616161"/>
                </a:solidFill>
                <a:uFillTx/>
                <a:latin typeface="Times New Roman Bold" panose="02020603050405020304" charset="0"/>
                <a:ea typeface="Arial Bold" panose="020B0604020202090204" charset="0"/>
                <a:cs typeface="Times New Roman" panose="02020603050405020304" pitchFamily="18" charset="0"/>
              </a:rPr>
              <a:t>Benefits</a:t>
            </a:r>
            <a:endParaRPr lang="en-US" altLang="en-US" sz="1800" b="1" i="0" dirty="0">
              <a:solidFill>
                <a:srgbClr val="616161"/>
              </a:solidFill>
              <a:uFillTx/>
              <a:latin typeface="Times New Roman Bold" panose="02020603050405020304" charset="0"/>
              <a:ea typeface="Arial Bold" panose="020B0604020202090204" charset="0"/>
              <a:cs typeface="Times New Roman" panose="02020603050405020304" pitchFamily="18" charset="0"/>
            </a:endParaRPr>
          </a:p>
          <a:p>
            <a:pPr marL="228600" indent="-91440" algn="l">
              <a:spcBef>
                <a:spcPts val="0"/>
              </a:spcBef>
              <a:spcAft>
                <a:spcPts val="800"/>
              </a:spcAft>
              <a:buSzPct val="100000"/>
              <a:buFont typeface="Arial" panose="020B0604020202090204"/>
              <a:buChar char="•"/>
            </a:pPr>
            <a:r>
              <a:rPr lang="en-US" altLang="en-US" sz="1300" b="0" i="0" dirty="0">
                <a:solidFill>
                  <a:srgbClr val="616161"/>
                </a:solidFill>
                <a:latin typeface="Times New Roman" panose="02020603050405020304" pitchFamily="18" charset="0"/>
                <a:cs typeface="Times New Roman" panose="02020603050405020304" pitchFamily="18" charset="0"/>
              </a:rPr>
              <a:t>Economic: Boosts agricultural GDP, increases productivity, and helps stabilize food prices for the nation.</a:t>
            </a: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228600" indent="-91440" algn="l">
              <a:spcBef>
                <a:spcPts val="0"/>
              </a:spcBef>
              <a:spcAft>
                <a:spcPts val="800"/>
              </a:spcAft>
              <a:buSzPct val="100000"/>
              <a:buFont typeface="Arial" panose="020B0604020202090204"/>
              <a:buChar char="•"/>
            </a:pPr>
            <a:r>
              <a:rPr lang="en-US" altLang="en-US" sz="1300" b="0" i="0" dirty="0">
                <a:solidFill>
                  <a:srgbClr val="616161"/>
                </a:solidFill>
                <a:latin typeface="Times New Roman" panose="02020603050405020304" pitchFamily="18" charset="0"/>
                <a:cs typeface="Times New Roman" panose="02020603050405020304" pitchFamily="18" charset="0"/>
              </a:rPr>
              <a:t>Social: Strengthens food security and improves the livelihoods of millions of farmers and their families.</a:t>
            </a: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137160" indent="0" algn="l">
              <a:spcBef>
                <a:spcPts val="0"/>
              </a:spcBef>
              <a:spcAft>
                <a:spcPts val="800"/>
              </a:spcAft>
              <a:buSzPct val="100000"/>
              <a:buFont typeface="Arial" panose="020B0604020202090204"/>
              <a:buNone/>
            </a:pP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228600" indent="-91440" algn="l">
              <a:spcBef>
                <a:spcPts val="0"/>
              </a:spcBef>
              <a:spcAft>
                <a:spcPts val="800"/>
              </a:spcAft>
              <a:buSzPct val="100000"/>
              <a:buFont typeface="Arial" panose="020B0604020202090204"/>
              <a:buChar char="•"/>
            </a:pPr>
            <a:endParaRPr lang="en-US" altLang="en-US" sz="1300" b="0" i="0" dirty="0">
              <a:solidFill>
                <a:srgbClr val="61616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4724400" y="1508670"/>
            <a:ext cx="4190999" cy="311586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4400" y="3947070"/>
            <a:ext cx="4190999" cy="152400"/>
          </a:xfrm>
          <a:prstGeom prst="rect">
            <a:avLst/>
          </a:prstGeom>
          <a:noFill/>
          <a:ln>
            <a:noFill/>
          </a:ln>
        </p:spPr>
        <p:txBody>
          <a:bodyPr wrap="square" lIns="0" tIns="0" rIns="0" bIns="0" anchor="t">
            <a:spAutoFit/>
          </a:bodyPr>
          <a:lstStyle/>
          <a:p>
            <a:pPr algn="r">
              <a:spcAft>
                <a:spcPts val="1200"/>
              </a:spcAft>
            </a:pPr>
            <a:r>
              <a:rPr sz="900" b="0" i="0">
                <a:solidFill>
                  <a:srgbClr val="616161"/>
                </a:solidFill>
                <a:latin typeface="Proxima Nova" panose="02000506030000020004"/>
              </a:rPr>
              <a:t>Photo by Shaun Coward on Unsplash</a:t>
            </a:r>
            <a:endParaRPr sz="900" b="0" i="0">
              <a:solidFill>
                <a:srgbClr val="616161"/>
              </a:solidFill>
              <a:latin typeface="Proxima Nova" panose="02000506030000020004"/>
            </a:endParaRPr>
          </a:p>
        </p:txBody>
      </p:sp>
      <p:pic>
        <p:nvPicPr>
          <p:cNvPr id="15" name="Picture 14" descr="Optimizing-Farm-Yields-Leveraging-Soil-Health-Digital-Tools-and-Sustainable-Practices-for-Smarter-Agriculture_1"/>
          <p:cNvPicPr>
            <a:picLocks noChangeAspect="1"/>
          </p:cNvPicPr>
          <p:nvPr/>
        </p:nvPicPr>
        <p:blipFill>
          <a:blip r:embed="rId1"/>
          <a:srcRect t="12123"/>
          <a:stretch>
            <a:fillRect/>
          </a:stretch>
        </p:blipFill>
        <p:spPr>
          <a:xfrm>
            <a:off x="4679950" y="1004570"/>
            <a:ext cx="4194175" cy="3686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b="1" dirty="0">
                <a:latin typeface="Times New Roman" panose="02020603050405020304" pitchFamily="18" charset="0"/>
                <a:cs typeface="Times New Roman" panose="02020603050405020304" pitchFamily="18" charset="0"/>
              </a:rPr>
              <a:t>Research and References</a:t>
            </a:r>
            <a:endParaRPr b="1" dirty="0">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3"/>
          </p:nvPr>
        </p:nvSpPr>
        <p:spPr/>
        <p:txBody>
          <a:bodyPr>
            <a:normAutofit/>
          </a:bodyPr>
          <a:lstStyle/>
          <a:p>
            <a:r>
              <a:rPr dirty="0">
                <a:latin typeface="Times New Roman" panose="02020603050405020304" pitchFamily="18" charset="0"/>
                <a:cs typeface="Times New Roman" panose="02020603050405020304" pitchFamily="18" charset="0"/>
              </a:rPr>
              <a:t>Data Sources &amp; Supporting Work</a:t>
            </a:r>
            <a:endParaRPr dirty="0">
              <a:latin typeface="Times New Roman" panose="02020603050405020304" pitchFamily="18" charset="0"/>
              <a:cs typeface="Times New Roman" panose="02020603050405020304" pitchFamily="18" charset="0"/>
            </a:endParaRP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panose="02000506030000020004"/>
              </a:defRPr>
            </a:pPr>
          </a:p>
        </p:txBody>
      </p:sp>
      <p:sp>
        <p:nvSpPr>
          <p:cNvPr id="7" name="Rectangle 6"/>
          <p:cNvSpPr/>
          <p:nvPr/>
        </p:nvSpPr>
        <p:spPr>
          <a:xfrm>
            <a:off x="228600" y="1508670"/>
            <a:ext cx="8686800" cy="29101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4190999" cy="29101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036230"/>
            <a:ext cx="4190999" cy="4535170"/>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panose="020B0604020202090204"/>
              <a:buChar char="•"/>
            </a:pPr>
            <a:r>
              <a:rPr sz="1300" b="1" i="0" dirty="0">
                <a:solidFill>
                  <a:srgbClr val="616161"/>
                </a:solidFill>
                <a:latin typeface="Times New Roman" panose="02020603050405020304" pitchFamily="18" charset="0"/>
                <a:cs typeface="Times New Roman" panose="02020603050405020304" pitchFamily="18" charset="0"/>
              </a:rPr>
              <a:t>Government Crop Data:</a:t>
            </a:r>
            <a:r>
              <a:rPr sz="1300" b="0" i="0" dirty="0">
                <a:solidFill>
                  <a:srgbClr val="616161"/>
                </a:solidFill>
                <a:latin typeface="Times New Roman" panose="02020603050405020304" pitchFamily="18" charset="0"/>
                <a:cs typeface="Times New Roman" panose="02020603050405020304" pitchFamily="18" charset="0"/>
              </a:rPr>
              <a:t> APY.csv dataset from Indian Government portals providing district-level crop production statistics.</a:t>
            </a:r>
            <a:endParaRPr sz="1300" b="0" i="0" dirty="0">
              <a:solidFill>
                <a:srgbClr val="616161"/>
              </a:solidFill>
              <a:latin typeface="Times New Roman" panose="02020603050405020304" pitchFamily="18" charset="0"/>
              <a:cs typeface="Times New Roman" panose="02020603050405020304" pitchFamily="18" charset="0"/>
            </a:endParaRPr>
          </a:p>
          <a:p>
            <a:pPr marL="228600" indent="-91440" algn="l">
              <a:spcBef>
                <a:spcPts val="0"/>
              </a:spcBef>
              <a:spcAft>
                <a:spcPts val="800"/>
              </a:spcAft>
              <a:buSzPct val="100000"/>
              <a:buFont typeface="Arial" panose="020B0604020202090204"/>
              <a:buChar char="•"/>
            </a:pPr>
            <a:r>
              <a:rPr sz="1300" b="1" i="0" dirty="0">
                <a:solidFill>
                  <a:srgbClr val="616161"/>
                </a:solidFill>
                <a:latin typeface="Times New Roman" panose="02020603050405020304" pitchFamily="18" charset="0"/>
                <a:cs typeface="Times New Roman" panose="02020603050405020304" pitchFamily="18" charset="0"/>
              </a:rPr>
              <a:t>NASA POWER API:</a:t>
            </a:r>
            <a:r>
              <a:rPr sz="1300" b="0" i="0" dirty="0">
                <a:solidFill>
                  <a:srgbClr val="616161"/>
                </a:solidFill>
                <a:latin typeface="Times New Roman" panose="02020603050405020304" pitchFamily="18" charset="0"/>
                <a:cs typeface="Times New Roman" panose="02020603050405020304" pitchFamily="18" charset="0"/>
              </a:rPr>
              <a:t> Global climate and weather data used for accurate historical and real-time agricultural analysis.</a:t>
            </a:r>
            <a:endParaRPr sz="1300" b="0" i="0" dirty="0">
              <a:solidFill>
                <a:srgbClr val="616161"/>
              </a:solidFill>
              <a:latin typeface="Times New Roman" panose="02020603050405020304" pitchFamily="18" charset="0"/>
              <a:cs typeface="Times New Roman" panose="02020603050405020304" pitchFamily="18" charset="0"/>
            </a:endParaRPr>
          </a:p>
          <a:p>
            <a:pPr marL="228600" lvl="1" indent="-91440" algn="l">
              <a:spcBef>
                <a:spcPts val="1200"/>
              </a:spcBef>
              <a:spcAft>
                <a:spcPts val="0"/>
              </a:spcAft>
              <a:buSzPct val="100000"/>
              <a:buFont typeface="Arial" panose="020B0604020202090204"/>
              <a:buChar char="•"/>
            </a:pPr>
            <a:r>
              <a:rPr sz="1300" b="1" i="0" dirty="0">
                <a:solidFill>
                  <a:srgbClr val="616161"/>
                </a:solidFill>
                <a:latin typeface="Times New Roman" panose="02020603050405020304" pitchFamily="18" charset="0"/>
                <a:cs typeface="Times New Roman" panose="02020603050405020304" pitchFamily="18" charset="0"/>
              </a:rPr>
              <a:t>ISRIC </a:t>
            </a:r>
            <a:r>
              <a:rPr sz="1300" b="1" i="0" dirty="0" err="1">
                <a:solidFill>
                  <a:srgbClr val="616161"/>
                </a:solidFill>
                <a:latin typeface="Times New Roman" panose="02020603050405020304" pitchFamily="18" charset="0"/>
                <a:cs typeface="Times New Roman" panose="02020603050405020304" pitchFamily="18" charset="0"/>
              </a:rPr>
              <a:t>SoilGrids</a:t>
            </a:r>
            <a:r>
              <a:rPr sz="1300" b="1" i="0" dirty="0">
                <a:solidFill>
                  <a:srgbClr val="616161"/>
                </a:solidFill>
                <a:latin typeface="Times New Roman" panose="02020603050405020304" pitchFamily="18" charset="0"/>
                <a:cs typeface="Times New Roman" panose="02020603050405020304" pitchFamily="18" charset="0"/>
              </a:rPr>
              <a:t>:</a:t>
            </a:r>
            <a:r>
              <a:rPr sz="1300" b="0" i="0" dirty="0">
                <a:solidFill>
                  <a:srgbClr val="616161"/>
                </a:solidFill>
                <a:latin typeface="Times New Roman" panose="02020603050405020304" pitchFamily="18" charset="0"/>
                <a:cs typeface="Times New Roman" panose="02020603050405020304" pitchFamily="18" charset="0"/>
              </a:rPr>
              <a:t> Geospatial soil property datasets integrated for precision agriculture applications.</a:t>
            </a:r>
            <a:endParaRPr sz="1300" b="0" i="0" dirty="0">
              <a:solidFill>
                <a:srgbClr val="616161"/>
              </a:solidFill>
              <a:latin typeface="Times New Roman" panose="02020603050405020304" pitchFamily="18" charset="0"/>
              <a:cs typeface="Times New Roman" panose="02020603050405020304" pitchFamily="18" charset="0"/>
            </a:endParaRPr>
          </a:p>
          <a:p>
            <a:pPr marL="228600" lvl="1" indent="-91440" algn="l">
              <a:spcBef>
                <a:spcPts val="1200"/>
              </a:spcBef>
              <a:spcAft>
                <a:spcPts val="0"/>
              </a:spcAft>
              <a:buSzPct val="100000"/>
              <a:buFont typeface="Arial" panose="020B0604020202090204"/>
              <a:buChar char="•"/>
            </a:pPr>
            <a:r>
              <a:rPr sz="1300" b="1" i="0" dirty="0">
                <a:solidFill>
                  <a:srgbClr val="616161"/>
                </a:solidFill>
                <a:latin typeface="Times New Roman" panose="02020603050405020304" pitchFamily="18" charset="0"/>
                <a:cs typeface="Times New Roman" panose="02020603050405020304" pitchFamily="18" charset="0"/>
              </a:rPr>
              <a:t>Supporting Research:</a:t>
            </a:r>
            <a:r>
              <a:rPr sz="1300" b="0" i="0" dirty="0">
                <a:solidFill>
                  <a:srgbClr val="616161"/>
                </a:solidFill>
                <a:latin typeface="Times New Roman" panose="02020603050405020304" pitchFamily="18" charset="0"/>
                <a:cs typeface="Times New Roman" panose="02020603050405020304" pitchFamily="18" charset="0"/>
              </a:rPr>
              <a:t> Studies on AI in agriculture, geospatial analytics, and sustainable farming practices.</a:t>
            </a:r>
            <a:endParaRPr sz="1300" b="0" i="0" dirty="0">
              <a:solidFill>
                <a:srgbClr val="616161"/>
              </a:solidFill>
              <a:latin typeface="Times New Roman" panose="02020603050405020304" pitchFamily="18" charset="0"/>
              <a:cs typeface="Times New Roman" panose="02020603050405020304" pitchFamily="18" charset="0"/>
            </a:endParaRPr>
          </a:p>
          <a:p>
            <a:pPr marL="137160" lvl="1" indent="0" algn="l">
              <a:spcBef>
                <a:spcPts val="1200"/>
              </a:spcBef>
              <a:spcAft>
                <a:spcPts val="0"/>
              </a:spcAft>
              <a:buSzPct val="100000"/>
              <a:buFont typeface="Arial" panose="020B0604020202090204"/>
              <a:buNone/>
            </a:pPr>
            <a:r>
              <a:rPr lang="en-US" altLang="en-US" b="1" i="0" dirty="0">
                <a:solidFill>
                  <a:srgbClr val="616161"/>
                </a:solidFill>
                <a:uFillTx/>
                <a:latin typeface="Times New Roman Bold" panose="02020603050405020304" charset="0"/>
                <a:ea typeface="Arial Bold" panose="020B0604020202090204" charset="0"/>
                <a:cs typeface="Times New Roman" panose="02020603050405020304" pitchFamily="18" charset="0"/>
              </a:rPr>
              <a:t>Research Foundation</a:t>
            </a:r>
            <a:endParaRPr lang="en-US" altLang="en-US" b="1" i="0" dirty="0">
              <a:solidFill>
                <a:srgbClr val="616161"/>
              </a:solidFill>
              <a:uFillTx/>
              <a:latin typeface="Times New Roman Bold" panose="02020603050405020304" charset="0"/>
              <a:ea typeface="Arial Bold" panose="020B0604020202090204" charset="0"/>
              <a:cs typeface="Times New Roman" panose="02020603050405020304" pitchFamily="18" charset="0"/>
            </a:endParaRPr>
          </a:p>
          <a:p>
            <a:pPr marL="228600" lvl="1" indent="-91440" algn="l">
              <a:spcBef>
                <a:spcPts val="1200"/>
              </a:spcBef>
              <a:spcAft>
                <a:spcPts val="0"/>
              </a:spcAft>
              <a:buSzPct val="100000"/>
              <a:buFont typeface="Arial" panose="020B0604020202090204"/>
              <a:buChar char="•"/>
            </a:pPr>
            <a:r>
              <a:rPr lang="en-US" altLang="en-US" sz="1300" b="0" i="0" dirty="0">
                <a:solidFill>
                  <a:srgbClr val="616161"/>
                </a:solidFill>
                <a:latin typeface="Times New Roman" panose="02020603050405020304" pitchFamily="18" charset="0"/>
                <a:cs typeface="Times New Roman" panose="02020603050405020304" pitchFamily="18" charset="0"/>
              </a:rPr>
              <a:t>Our methodology is based on the proven data science principle of multi-modal data fusion (combining weather, soil, and satellite data) for agricultural forecasting.</a:t>
            </a: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228600" lvl="1" indent="-91440" algn="l">
              <a:spcBef>
                <a:spcPts val="1200"/>
              </a:spcBef>
              <a:spcAft>
                <a:spcPts val="0"/>
              </a:spcAft>
              <a:buSzPct val="100000"/>
              <a:buFont typeface="Arial" panose="020B0604020202090204"/>
              <a:buChar char="•"/>
            </a:pPr>
            <a:endParaRPr lang="en-US" altLang="en-US" sz="1300" b="0" i="0" dirty="0">
              <a:solidFill>
                <a:srgbClr val="616161"/>
              </a:solidFill>
              <a:latin typeface="Times New Roman" panose="02020603050405020304" pitchFamily="18" charset="0"/>
              <a:cs typeface="Times New Roman" panose="02020603050405020304" pitchFamily="18" charset="0"/>
            </a:endParaRPr>
          </a:p>
          <a:p>
            <a:pPr marL="137160" lvl="1" indent="0" algn="l">
              <a:spcBef>
                <a:spcPts val="1200"/>
              </a:spcBef>
              <a:spcAft>
                <a:spcPts val="0"/>
              </a:spcAft>
              <a:buSzPct val="100000"/>
              <a:buFont typeface="Arial" panose="020B0604020202090204"/>
              <a:buNone/>
            </a:pPr>
            <a:endParaRPr lang="en-US" altLang="en-US" sz="1300" b="0" i="0" dirty="0">
              <a:solidFill>
                <a:srgbClr val="61616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4724400" y="1508670"/>
            <a:ext cx="4190999" cy="29101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p>
        </p:txBody>
      </p:sp>
      <p:pic>
        <p:nvPicPr>
          <p:cNvPr id="12" name="Picture 11" descr="tmporlcbj35.png"/>
          <p:cNvPicPr>
            <a:picLocks noChangeAspect="1"/>
          </p:cNvPicPr>
          <p:nvPr/>
        </p:nvPicPr>
        <p:blipFill>
          <a:blip r:embed="rId1"/>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3556</Words>
  <Application>WPS Spreadsheets</Application>
  <PresentationFormat>On-screen Show (16:9)</PresentationFormat>
  <Paragraphs>72</Paragraphs>
  <Slides>6</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vt:i4>
      </vt:variant>
    </vt:vector>
  </HeadingPairs>
  <TitlesOfParts>
    <vt:vector size="19" baseType="lpstr">
      <vt:lpstr>Arial</vt:lpstr>
      <vt:lpstr>SimSun</vt:lpstr>
      <vt:lpstr>Wingdings</vt:lpstr>
      <vt:lpstr>Arial</vt:lpstr>
      <vt:lpstr>Proxima Nova</vt:lpstr>
      <vt:lpstr>Times New Roman</vt:lpstr>
      <vt:lpstr>Wingdings</vt:lpstr>
      <vt:lpstr>Times New Roman Bold</vt:lpstr>
      <vt:lpstr>Arial Bold</vt:lpstr>
      <vt:lpstr>Microsoft YaHei</vt:lpstr>
      <vt:lpstr>汉仪旗黑</vt:lpstr>
      <vt:lpstr>Arial Unicode MS</vt:lpstr>
      <vt:lpstr>Spearmint</vt:lpstr>
      <vt:lpstr>PowerPoint 演示文稿</vt:lpstr>
      <vt:lpstr> SmartHarvest AI: A data-driven platform to accurately  predict crop yields across India.</vt:lpstr>
      <vt:lpstr>Technical Approach</vt:lpstr>
      <vt:lpstr>Feasibility and Viability</vt:lpstr>
      <vt:lpstr>Impact and Benefits</vt:lpstr>
      <vt:lpstr>Research and 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Shivam Pratap Singh</dc:creator>
  <cp:lastModifiedBy>Ayush Vishnoi</cp:lastModifiedBy>
  <cp:revision>12</cp:revision>
  <dcterms:created xsi:type="dcterms:W3CDTF">2025-09-25T15:09:55Z</dcterms:created>
  <dcterms:modified xsi:type="dcterms:W3CDTF">2025-09-25T15:09:55Z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643C27BD04DC1D778456D2686837EFB4_43</vt:lpwstr>
  </property>
  <property fmtid="{D5CDD505-2E9C-101B-9397-08002B2CF9AE}" pid="3" name="KSOProductBuildVer">
    <vt:lpwstr>1033-6.11.0.8608</vt:lpwstr>
  </property>
</Properties>
</file>